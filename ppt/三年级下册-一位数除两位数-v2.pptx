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463040" cy="14630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2926080"/>
            <a:ext cx="822960" cy="8229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一位数除两位数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6AD55"/>
                </a:solidFill>
              </a:rPr>
              <a:t>口算 + 竖式笔算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286000" cy="4572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4C8"/>
                </a:solidFill>
              </a:rPr>
              <a:t>小学数学  三年级下册  第二单元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4C8"/>
                </a:solidFill>
              </a:rPr>
              <a:t>授课时间：____年____月____日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4C8"/>
                </a:solidFill>
              </a:rPr>
              <a:t>授课教师：__________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1645920"/>
            <a:ext cx="1920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数学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课件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教学目标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Teaching 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974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697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知识与技能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42316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掌握一位数除两位数（商是两位数）的口算方法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理解并掌握一位数除两位数的竖式笔算方法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能正确、熟练地进行口算与笔算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697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515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过程与方法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42316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经历动手操作、小组交流的过程，探索口算方法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通过竖式书写，体会除法运算的结构与逻辑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6974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51560"/>
            <a:ext cx="2697480" cy="4114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0515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情感与价值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554480"/>
            <a:ext cx="242316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感受数学与生活的联系，体会除法的实际意义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培养认真书写竖式、仔细计算的良好习惯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教学重难点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Key Points &amp; Difficulties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64592" cy="37490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</a:rPr>
              <a:t>教学重点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56616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掌握一位数除两位数（商是两位数）的口算方法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熟练运用「先分十位，再分个位」的口算思路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正确书写一位数除两位数的竖式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理解竖式中每步的含义（商、余数处理）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164592" cy="3749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515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E3E"/>
                </a:solidFill>
              </a:rPr>
              <a:t>教学难点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56616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理解十位不够整除时，拆到个位继续分的算理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竖式笔算中：余数必须小于除数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区分口算与竖式的书写形式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应用题中正确列式并写出竖式过程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情境导入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Context Introduction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554480"/>
          </a:xfrm>
          <a:prstGeom prst="rect">
            <a:avLst/>
          </a:prstGeom>
          <a:solidFill>
            <a:srgbClr val="FFF3E0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C42"/>
                </a:solidFill>
              </a:rPr>
              <a:t>🌸 春游情境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3A5C"/>
                </a:solidFill>
              </a:rPr>
              <a:t>学校组织春游，三年级共有 48 人参加。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3A5C"/>
                </a:solidFill>
              </a:rPr>
              <a:t>老师说：每组 4 人，请同学们算一算，可以分成几组？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</a:rPr>
              <a:t>【复习铺垫】口算表内除法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063240"/>
            <a:ext cx="1234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A5C"/>
                </a:solidFill>
              </a:rPr>
              <a:t>24 ÷ 3 =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45920" y="3154680"/>
            <a:ext cx="457200" cy="457200"/>
          </a:xfrm>
          <a:prstGeom prst="ellipse">
            <a:avLst/>
          </a:prstGeom>
          <a:solidFill>
            <a:srgbClr val="FEF3E8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3017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3063240"/>
            <a:ext cx="1234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A5C"/>
                </a:solidFill>
              </a:rPr>
              <a:t>36 ÷ 4 =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94760" y="3154680"/>
            <a:ext cx="457200" cy="457200"/>
          </a:xfrm>
          <a:prstGeom prst="ellipse">
            <a:avLst/>
          </a:prstGeom>
          <a:solidFill>
            <a:srgbClr val="FEF3E8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3017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063240"/>
            <a:ext cx="1234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A5C"/>
                </a:solidFill>
              </a:rPr>
              <a:t>56 ÷ 7 =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0" y="3154680"/>
            <a:ext cx="457200" cy="457200"/>
          </a:xfrm>
          <a:prstGeom prst="ellipse">
            <a:avLst/>
          </a:prstGeom>
          <a:solidFill>
            <a:srgbClr val="FEF3E8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3017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3063240"/>
            <a:ext cx="1234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A5C"/>
                </a:solidFill>
              </a:rPr>
              <a:t>42 ÷ 6 =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92440" y="3154680"/>
            <a:ext cx="457200" cy="457200"/>
          </a:xfrm>
          <a:prstGeom prst="ellipse">
            <a:avLst/>
          </a:prstGeom>
          <a:solidFill>
            <a:srgbClr val="FEF3E8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69080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8C42"/>
                </a:solidFill>
              </a:rPr>
              <a:t>揭示课题：今天我们学习  一位数除两位数  ！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口算探究 · 动手操作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算一算  48 ÷ 4 = 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6634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24128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</a:rPr>
              <a:t>用小棒来分一分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4389120" cy="585216"/>
          </a:xfrm>
          <a:prstGeom prst="rect">
            <a:avLst/>
          </a:prstGeom>
          <a:solidFill>
            <a:srgbClr val="FEF3E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2768"/>
            <a:ext cx="347472" cy="34747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554480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准备：4捆小棒（每捆10根）+ 8根散的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4389120" cy="585216"/>
          </a:xfrm>
          <a:prstGeom prst="rect">
            <a:avLst/>
          </a:prstGeom>
          <a:solidFill>
            <a:srgbClr val="FEF3E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347472" cy="34747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267712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分捆：把4捆（40根）每4根一份  →  得到 10 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889504"/>
            <a:ext cx="4389120" cy="585216"/>
          </a:xfrm>
          <a:prstGeom prst="rect">
            <a:avLst/>
          </a:prstGeom>
          <a:solidFill>
            <a:srgbClr val="FEF3E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99232"/>
            <a:ext cx="347472" cy="34747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923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980944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分散：把8根每4根一份  →  得到 2 份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602736"/>
            <a:ext cx="4389120" cy="585216"/>
          </a:xfrm>
          <a:prstGeom prst="rect">
            <a:avLst/>
          </a:prstGeom>
          <a:solidFill>
            <a:srgbClr val="FFF3E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694176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合起来：10 + 2 = 12（份）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20640" y="960120"/>
            <a:ext cx="3749040" cy="3794760"/>
          </a:xfrm>
          <a:prstGeom prst="rect">
            <a:avLst/>
          </a:prstGeom>
          <a:solidFill>
            <a:srgbClr val="E8F4FD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640" y="960120"/>
            <a:ext cx="374904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96012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算法归纳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57800" y="14630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8C42"/>
                </a:solidFill>
              </a:rPr>
              <a:t>48 ÷ 4 = 12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257800" y="1975104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248716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3A5C"/>
                </a:solidFill>
              </a:rPr>
              <a:t>48 = 40 + 8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299923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3A5C"/>
                </a:solidFill>
              </a:rPr>
              <a:t>40 ÷ 4 = 10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57800" y="3511296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3A5C"/>
                </a:solidFill>
              </a:rPr>
              <a:t> 8 ÷ 4 =  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800" y="40233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3A5C"/>
                </a:solidFill>
              </a:rPr>
              <a:t>10 + 2  = 12  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20640" y="4297680"/>
            <a:ext cx="3749040" cy="502920"/>
          </a:xfrm>
          <a:prstGeom prst="rect">
            <a:avLst/>
          </a:prstGeom>
          <a:solidFill>
            <a:srgbClr val="FF8C4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429768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口诀：先分十位，再分个位，最后合起来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口算方法 · 归纳总结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Oral Calculation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A5C"/>
                </a:solidFill>
              </a:rPr>
              <a:t>方法口诀：先分十位  →  再分个位  →  合并结果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274320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84 ÷ 4 = 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</a:rPr>
              <a:t>80 ÷ 4 = 20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35000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</a:rPr>
              <a:t>4 ÷ 4 =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</a:rPr>
              <a:t>20 + 1 = 21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2194560" cy="594360"/>
          </a:xfrm>
          <a:prstGeom prst="rect">
            <a:avLst/>
          </a:prstGeom>
          <a:solidFill>
            <a:srgbClr val="FFF3E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8328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42"/>
                </a:solidFill>
              </a:rPr>
              <a:t>= 21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27832" y="12801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280160"/>
            <a:ext cx="274320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1280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63 ÷ 3 = 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10712" y="18745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</a:rPr>
              <a:t>60 ÷ 3 = 20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10712" y="235000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</a:rPr>
              <a:t>3 ÷ 3 = 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10712" y="2825496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</a:rPr>
              <a:t>20 + 1 = 21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502152" y="3383280"/>
            <a:ext cx="2194560" cy="594360"/>
          </a:xfrm>
          <a:prstGeom prst="rect">
            <a:avLst/>
          </a:prstGeom>
          <a:solidFill>
            <a:srgbClr val="FFF3E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338328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42"/>
                </a:solidFill>
              </a:rPr>
              <a:t>= 21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181344" y="12801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280160"/>
            <a:ext cx="274320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1280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96 ÷ 3 = 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64224" y="18745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</a:rPr>
              <a:t>90 ÷ 3 = 30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64224" y="235000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</a:rPr>
              <a:t>6 ÷ 3 = 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64224" y="2825496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</a:rPr>
              <a:t>30 + 2 = 32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55664" y="3383280"/>
            <a:ext cx="2194560" cy="594360"/>
          </a:xfrm>
          <a:prstGeom prst="rect">
            <a:avLst/>
          </a:prstGeom>
          <a:solidFill>
            <a:srgbClr val="FFF3E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55664" y="338328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42"/>
                </a:solidFill>
              </a:rPr>
              <a:t>= 32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8595360" cy="438912"/>
          </a:xfrm>
          <a:prstGeom prst="rect">
            <a:avLst/>
          </a:prstGeom>
          <a:solidFill>
            <a:srgbClr val="FEF3E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63440"/>
            <a:ext cx="8412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</a:rPr>
              <a:t>⚠️  注意：十位上的数不能被整除时，需要把余数与个位合并再除！  例：52 ÷ 4  →  40÷4=10，余12，12÷4=3，共13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竖式笔算 · 新授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Written Division  —  Step by 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</a:rPr>
              <a:t>例题：48 ÷ 4 = ?   用竖式怎么写？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34747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52728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</a:rPr>
              <a:t>标准竖式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</a:rPr>
              <a:t>1  2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" y="1737360"/>
            <a:ext cx="0" cy="320040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783080"/>
            <a:ext cx="146304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810512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</a:rPr>
              <a:t>4  8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181051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A3A5C"/>
                </a:solidFill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233172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5568"/>
                </a:solidFill>
              </a:rPr>
              <a:t>－ 4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71600" y="2743200"/>
            <a:ext cx="146304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278892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5C"/>
                </a:solidFill>
              </a:rPr>
              <a:t>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5568"/>
                </a:solidFill>
              </a:rPr>
              <a:t>－ 8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371600" y="3657600"/>
            <a:ext cx="146304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3703320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8A169"/>
                </a:solidFill>
              </a:rPr>
              <a:t>0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023360" y="1207008"/>
            <a:ext cx="48463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23360" y="1207008"/>
            <a:ext cx="48463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120700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竖式步骤拆解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1691640"/>
            <a:ext cx="777240" cy="34747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1691640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第①步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70992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被除数十位上的4，4÷4=1，商1写在十位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60520" y="2267712"/>
            <a:ext cx="777240" cy="34747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2267712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第②步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28600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1×4=4，用十位上的4减去4，余0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60520" y="2843784"/>
            <a:ext cx="7772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2843784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第③步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286207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被除数个位上的8移下来，8÷4=2，商2写在个位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60520" y="3419856"/>
            <a:ext cx="7772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3419856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第④步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438144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2×4=8，用个位的8减去8，余0（整除）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60520" y="3995928"/>
            <a:ext cx="777240" cy="34747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3995928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结  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4014216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商是 12，验算：12 × 4 = 48  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4846320"/>
            <a:ext cx="8595360" cy="384048"/>
          </a:xfrm>
          <a:prstGeom prst="rect">
            <a:avLst/>
          </a:prstGeom>
          <a:solidFill>
            <a:srgbClr val="FF8C4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46320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竖式口诀：除  →  乘  →  减  →  移（商、积、余、移下）——余数必须小于除数！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竖式笔算 · 跟我做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Written Division Practice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</a:rPr>
              <a:t>练习：用竖式计算下面各题（请同学们跟着板书一起写）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3840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62 ÷ 2 =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4757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E3E"/>
                </a:solidFill>
              </a:rPr>
              <a:t>3  1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60120" y="1691640"/>
            <a:ext cx="0" cy="274320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737360"/>
            <a:ext cx="128016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993" y="174650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5C"/>
                </a:solidFill>
              </a:rPr>
              <a:t>6  2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174650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3A5C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8665" y="219456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</a:rPr>
              <a:t>－6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0120" y="2578608"/>
            <a:ext cx="128016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9990" y="260604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04495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</a:rPr>
              <a:t>－2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" y="3429000"/>
            <a:ext cx="128016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9990" y="345643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A169"/>
                </a:solidFill>
              </a:rPr>
              <a:t>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2194560" cy="384048"/>
          </a:xfrm>
          <a:prstGeom prst="rect">
            <a:avLst/>
          </a:prstGeom>
          <a:solidFill>
            <a:srgbClr val="FFF3E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7200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42"/>
                </a:solidFill>
              </a:rPr>
              <a:t>= 31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227832" y="118872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1188720"/>
            <a:ext cx="2743200" cy="3840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118872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93 ÷ 3 =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59352" y="16916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E3E"/>
                </a:solidFill>
              </a:rPr>
              <a:t>3  1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913632" y="1691640"/>
            <a:ext cx="0" cy="274320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737360"/>
            <a:ext cx="128016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174650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5C"/>
                </a:solidFill>
              </a:rPr>
              <a:t>9  3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456432" y="174650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3A5C"/>
                </a:solidFill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59352" y="219456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</a:rPr>
              <a:t>－9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913632" y="2578608"/>
            <a:ext cx="128016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16552" y="260604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</a:rPr>
              <a:t>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959352" y="304495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</a:rPr>
              <a:t>－3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913632" y="3429000"/>
            <a:ext cx="128016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345643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A169"/>
                </a:solidFill>
              </a:rPr>
              <a:t>0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502152" y="4572000"/>
            <a:ext cx="2194560" cy="384048"/>
          </a:xfrm>
          <a:prstGeom prst="rect">
            <a:avLst/>
          </a:prstGeom>
          <a:solidFill>
            <a:srgbClr val="FFF3E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02152" y="457200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42"/>
                </a:solidFill>
              </a:rPr>
              <a:t>= 31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181344" y="118872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1188720"/>
            <a:ext cx="27432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81344" y="118872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84 ÷ 2 =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12864" y="16916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E3E"/>
                </a:solidFill>
              </a:rPr>
              <a:t>4  2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6867144" y="1691640"/>
            <a:ext cx="0" cy="274320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67144" y="1737360"/>
            <a:ext cx="128016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174650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5C"/>
                </a:solidFill>
              </a:rPr>
              <a:t>8  4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9944" y="174650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3A5C"/>
                </a:solidFill>
              </a:rPr>
              <a:t>2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912864" y="219456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</a:rPr>
              <a:t>－8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867144" y="2578608"/>
            <a:ext cx="128016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70064" y="260604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</a:rPr>
              <a:t>4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912864" y="304495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</a:rPr>
              <a:t>－4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867144" y="3429000"/>
            <a:ext cx="128016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52944" y="345643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A169"/>
                </a:solidFill>
              </a:rPr>
              <a:t>0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455664" y="4572000"/>
            <a:ext cx="2194560" cy="384048"/>
          </a:xfrm>
          <a:prstGeom prst="rect">
            <a:avLst/>
          </a:prstGeom>
          <a:solidFill>
            <a:srgbClr val="FFF3E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55664" y="457200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42"/>
                </a:solidFill>
              </a:rPr>
              <a:t>= 42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口算 vs 竖式笔算 · 对比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Comparison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</a:rPr>
              <a:t>以 48 ÷ 4 = 12 为例，两种方法都能解决问题，各有优势：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14800" cy="43891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口算方法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A5C"/>
                </a:solidFill>
              </a:rPr>
              <a:t>48 = 40 + 8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A5C"/>
                </a:solidFill>
              </a:rPr>
              <a:t>40 ÷ 4 = 10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A5C"/>
                </a:solidFill>
              </a:rPr>
              <a:t> 8 ÷ 4 = 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A5C"/>
                </a:solidFill>
              </a:rPr>
              <a:t>10 + 2 = 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</a:rPr>
              <a:t>适合：两位数能被整除、数字简单时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228600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42"/>
                </a:solidFill>
              </a:rPr>
              <a:t>VS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54880" y="1170432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170432"/>
            <a:ext cx="41148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70432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竖式笔算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1426972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E3E"/>
                </a:solidFill>
              </a:rPr>
              <a:t>  1  2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303520" y="1719072"/>
            <a:ext cx="0" cy="228600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1755648"/>
            <a:ext cx="137160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5080" y="17734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5C"/>
                </a:solidFill>
              </a:rPr>
              <a:t>4   4 8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12080" y="2222373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</a:rPr>
              <a:t>   - 4  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03520" y="2596896"/>
            <a:ext cx="137160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262432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</a:rPr>
              <a:t>      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47030" y="300926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</a:rPr>
              <a:t>   - 8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303520" y="3401568"/>
            <a:ext cx="137160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341985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A169"/>
                </a:solidFill>
              </a:rPr>
              <a:t>      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846320" y="37033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</a:rPr>
              <a:t>适合：复杂计算、避免出错、有书写要求时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solidFill>
            <a:srgbClr val="1A3A5C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8056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两种方法都要掌握！口算速度快，竖式不容易出错，数学考试竖式写法更规范。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巩固练习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Practice Time  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 组 · 口算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① 64 ÷ 2 = ____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② 84 ÷ 4 = ____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54203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③ 96 ÷ 3 = ____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④ 39 ÷ 3 = ____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63931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⑤ 55 ÷ 5 = ____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1148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 组 · 竖式笔算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1463040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① 68 ÷ 2 = ____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3480" y="1719072"/>
            <a:ext cx="3474720" cy="749808"/>
          </a:xfrm>
          <a:prstGeom prst="rect">
            <a:avLst/>
          </a:prstGeom>
          <a:solidFill>
            <a:srgbClr val="FEF3E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76479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EC8D0"/>
                </a:solidFill>
              </a:rPr>
              <a:t>竖式区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121408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② 75 ÷ 5 = ____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83480" y="2880360"/>
            <a:ext cx="3474720" cy="749808"/>
          </a:xfrm>
          <a:prstGeom prst="rect">
            <a:avLst/>
          </a:prstGeom>
          <a:solidFill>
            <a:srgbClr val="FEF3E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92608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EC8D0"/>
                </a:solidFill>
              </a:rPr>
              <a:t>竖式区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779776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③ 84 ÷ 4 = ____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83480" y="4041648"/>
            <a:ext cx="3474720" cy="749808"/>
          </a:xfrm>
          <a:prstGeom prst="rect">
            <a:avLst/>
          </a:prstGeom>
          <a:solidFill>
            <a:srgbClr val="FEF3E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408736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EC8D0"/>
                </a:solidFill>
              </a:rPr>
              <a:t>竖式区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应用题专项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Word Problems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280160" cy="1207008"/>
          </a:xfrm>
          <a:prstGeom prst="rect">
            <a:avLst/>
          </a:prstGeom>
          <a:solidFill>
            <a:srgbClr val="FEF3E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280160" cy="1207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🌸 分组问题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</a:rPr>
              <a:t>学校买来 96 本故事书，平均分给 3 个班，每班分得多少本？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645920"/>
            <a:ext cx="7040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</a:rPr>
              <a:t>想一想：应该列什么算式？用什么方法计算更准确？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31720"/>
            <a:ext cx="1280160" cy="1207008"/>
          </a:xfrm>
          <a:prstGeom prst="rect">
            <a:avLst/>
          </a:prstGeom>
          <a:solidFill>
            <a:srgbClr val="FEF3E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31720"/>
            <a:ext cx="1280160" cy="1207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🎈 平均分问题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423160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</a:rPr>
              <a:t>三年级 84 名同学参加运动会，每队 4 人，可以分成几队？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971800"/>
            <a:ext cx="7040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</a:rPr>
              <a:t>画线段图试试看：总人数 ÷ 每队人数 = 队数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57600"/>
            <a:ext cx="1280160" cy="1207008"/>
          </a:xfrm>
          <a:prstGeom prst="rect">
            <a:avLst/>
          </a:prstGeom>
          <a:solidFill>
            <a:srgbClr val="FEF3E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57600"/>
            <a:ext cx="1280160" cy="1207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🚌 行程问题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3749040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</a:rPr>
              <a:t>一列火车 2 小时行驶了 66 千米，平均每小时行驶多少千米？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4297680"/>
            <a:ext cx="7040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</a:rPr>
              <a:t>注意：这道题用竖式笔算比口算更稳！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课堂总结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5C"/>
                </a:solidFill>
              </a:rPr>
              <a:t>今天我们学会了什么？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274320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325880"/>
            <a:ext cx="822960" cy="82296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3258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口算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8C42"/>
                </a:solidFill>
              </a:rPr>
              <a:t>口算方法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先把两位数拆成整十数和一位数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分别除以除数，再把结果加起来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口诀：先分十位，再分个位，合并结果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7832" y="1261872"/>
            <a:ext cx="274320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87952" y="1325880"/>
            <a:ext cx="822960" cy="8229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3258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竖式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2267712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A5C"/>
                </a:solidFill>
              </a:rPr>
              <a:t>竖式笔算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64992" y="274320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按「除 → 乘 → 减 → 移」四步进行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余数必须小于除数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书写要规范，数位要对齐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1261872"/>
            <a:ext cx="274320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41464" y="1325880"/>
            <a:ext cx="822960" cy="82296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41464" y="13258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应用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72784" y="2267712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A169"/>
                </a:solidFill>
              </a:rPr>
              <a:t>灵活应用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18504" y="274320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能用除法解决生活中的平均分问题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看清题意，正确列式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根据题目要求选择口算或笔算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828032"/>
            <a:ext cx="8595360" cy="475488"/>
          </a:xfrm>
          <a:prstGeom prst="rect">
            <a:avLst/>
          </a:prstGeom>
          <a:solidFill>
            <a:srgbClr val="FF8C4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28032"/>
            <a:ext cx="8595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认真计算，仔细检查，数学让我们的思维更清晰！  🌟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课堂练习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Classroom Exercises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24712"/>
            <a:ext cx="502920" cy="50292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247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152144"/>
            <a:ext cx="594360" cy="256032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15214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口算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490472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42 ÷ 2 =（    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31343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450592"/>
            <a:ext cx="502920" cy="50292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4505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2478024"/>
            <a:ext cx="594360" cy="256032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47802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口算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816352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63 ÷ 3 =（    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776472"/>
            <a:ext cx="502920" cy="50292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776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05840" y="3803904"/>
            <a:ext cx="594360" cy="256032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80390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竖式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142232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88 ÷ 4 = ___（请写出竖式）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98755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1124712"/>
            <a:ext cx="502920" cy="50292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1247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94960" y="1152144"/>
            <a:ext cx="594360" cy="256032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115214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填空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1490472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84 ÷（    ）= 21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231343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2450592"/>
            <a:ext cx="502920" cy="50292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4505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94960" y="2478024"/>
            <a:ext cx="594360" cy="256032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47802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应用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816352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学校买来96本故事书，平均分给3个班，每班（    ）本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63440" y="363931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168" y="3776472"/>
            <a:ext cx="502920" cy="5029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776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394960" y="3803904"/>
            <a:ext cx="594360" cy="256032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380390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思考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4142232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□4 ÷ 2，要使商是两位数，□里可以填几？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52120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74320" y="182880"/>
            <a:ext cx="5212080" cy="4754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5212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作业布置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658368" cy="274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必做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•  完成课本第11页「做一做」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•  用竖式计算：69÷3、88÷2、96÷4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658368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7627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选做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49631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•  给爸爸妈妈出一道竖式除法题并讲解方法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9077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•  找生活中3个可以用除法解决的问题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658368" cy="2743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75304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实践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89534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•  观察家里物品，提出并解决一道平均分问题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914400"/>
            <a:ext cx="2651760" cy="265176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914400"/>
            <a:ext cx="265176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加油！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同学们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760720" y="37947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6AD55"/>
                </a:solidFill>
              </a:rPr>
              <a:t>感谢观看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0" y="43891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C8"/>
                </a:solidFill>
              </a:rPr>
              <a:t>三年级下册 · 一位数除两位数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2491</Words>
  <Application>WPS 演示</Application>
  <PresentationFormat>On-screen Show (16:9)</PresentationFormat>
  <Paragraphs>439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一位数除两位数 · 三年级下册</dc:title>
  <dc:creator>PptxGenJS</dc:creator>
  <dc:subject>PptxGenJS Presentation</dc:subject>
  <cp:lastModifiedBy>龖芔朤</cp:lastModifiedBy>
  <cp:revision>2</cp:revision>
  <dcterms:created xsi:type="dcterms:W3CDTF">2026-04-20T01:09:00Z</dcterms:created>
  <dcterms:modified xsi:type="dcterms:W3CDTF">2026-04-20T01:24:16Z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F26F5E5FD857433D8B999676B6C89EBB_12</vt:lpwstr>
  </property>
</Properties>
</file>