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91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33333"/>
                </a:solidFill>
                <a:latin typeface="微软雅黑"/>
              </a:defRPr>
            </a:pPr>
            <a:r>
              <a:t>一位数除两位数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66666"/>
                </a:solidFill>
                <a:latin typeface="微软雅黑"/>
              </a:defRPr>
            </a:pPr>
            <a:r>
              <a:t>小学数学三年级下册 | 第二单元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教学目标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4A90D9"/>
                </a:solidFill>
                <a:latin typeface="微软雅黑"/>
              </a:defRPr>
            </a:pPr>
            <a:r>
              <a:t>【知识与技能】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掌握一位数除两位数（商是两位数）的口算方法，能正确进行口算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掌握除法口算的基本思路：先分十位，再分个位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</a:p>
          <a:p>
            <a:pPr>
              <a:spcAft>
                <a:spcPts val="1200"/>
              </a:spcAft>
              <a:defRPr sz="2600" b="1">
                <a:solidFill>
                  <a:srgbClr val="4A90D9"/>
                </a:solidFill>
                <a:latin typeface="微软雅黑"/>
              </a:defRPr>
            </a:pPr>
            <a:r>
              <a:t>【过程与方法】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经历动手操作、小组交流的过程，探索口算方法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通过对比观察，发现除法口算与乘法口算的联系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</a:p>
          <a:p>
            <a:pPr>
              <a:spcAft>
                <a:spcPts val="1200"/>
              </a:spcAft>
              <a:defRPr sz="2600" b="1">
                <a:solidFill>
                  <a:srgbClr val="4A90D9"/>
                </a:solidFill>
                <a:latin typeface="微软雅黑"/>
              </a:defRPr>
            </a:pPr>
            <a:r>
              <a:t>【情感态度与价值观】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感受数学与生活的密切联系，体会学习除法的价值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激发学习数学的兴趣，培养认真计算的习惯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教学重难点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4A90D9"/>
                </a:solidFill>
                <a:latin typeface="微软雅黑"/>
              </a:defRPr>
            </a:pPr>
            <a:r>
              <a:t>【教学重点】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掌握一位数除两位数（商是两位数）的口算方法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能正确、熟练地进行口算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</a:p>
          <a:p>
            <a:pPr>
              <a:spcAft>
                <a:spcPts val="1200"/>
              </a:spcAft>
              <a:defRPr sz="2600" b="1">
                <a:solidFill>
                  <a:srgbClr val="4A90D9"/>
                </a:solidFill>
                <a:latin typeface="微软雅黑"/>
              </a:defRPr>
            </a:pPr>
            <a:r>
              <a:t>【教学难点】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理解"先分十位，再分个位"的算理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理解当十位上的数不能整除时的处理方法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教学准备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4A90D9"/>
                </a:solidFill>
                <a:latin typeface="微软雅黑"/>
              </a:defRPr>
            </a:pPr>
            <a:r>
              <a:t>【教师准备】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多媒体课件（含动画演示）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小棒（学生用学具的教师演示版）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计数器、题卡（分层练习）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小组讨论记录表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</a:p>
          <a:p>
            <a:pPr>
              <a:spcAft>
                <a:spcPts val="1200"/>
              </a:spcAft>
              <a:defRPr sz="2600" b="1">
                <a:solidFill>
                  <a:srgbClr val="4A90D9"/>
                </a:solidFill>
                <a:latin typeface="微软雅黑"/>
              </a:defRPr>
            </a:pPr>
            <a:r>
              <a:t>【学生准备】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小棒若干（10根橡皮筋捆成1捆）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计数器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预习任务：复习表内除法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教学过程 - 情境导入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4A90D9"/>
                </a:solidFill>
                <a:latin typeface="微软雅黑"/>
              </a:defRPr>
            </a:pPr>
            <a:r>
              <a:t>【创设情境】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学校组织春游，三年级有48人，每组4人，可以分成几组？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</a:p>
          <a:p>
            <a:pPr>
              <a:spcAft>
                <a:spcPts val="1200"/>
              </a:spcAft>
              <a:defRPr sz="2600" b="1">
                <a:solidFill>
                  <a:srgbClr val="4A90D9"/>
                </a:solidFill>
                <a:latin typeface="微软雅黑"/>
              </a:defRPr>
            </a:pPr>
            <a:r>
              <a:t>【复习铺垫】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口算：24 ÷ 3 = ?   36 ÷ 4 = ?   56 ÷ 7 = ?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</a:p>
          <a:p>
            <a:pPr>
              <a:spcAft>
                <a:spcPts val="1200"/>
              </a:spcAft>
              <a:defRPr sz="2600" b="1">
                <a:solidFill>
                  <a:srgbClr val="4A90D9"/>
                </a:solidFill>
                <a:latin typeface="微软雅黑"/>
              </a:defRPr>
            </a:pPr>
            <a:r>
              <a:t>【揭示课题】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今天我们就来学习"一位数除两位数"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教学过程 - 探究新知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4A90D9"/>
                </a:solidFill>
                <a:latin typeface="微软雅黑"/>
              </a:defRPr>
            </a:pPr>
            <a:r>
              <a:t>【动手操作】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48 ÷ 4 = ?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把4捆小棒（40根）和8根小棒合起来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先分4捆（40根）→ 每4根一份，分成10份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再分8根 → 每4根一份，分成2份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合起来：10 + 2 = 12（份）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</a:p>
          <a:p>
            <a:pPr>
              <a:spcAft>
                <a:spcPts val="1200"/>
              </a:spcAft>
              <a:defRPr sz="2600" b="1">
                <a:solidFill>
                  <a:srgbClr val="4A90D9"/>
                </a:solidFill>
                <a:latin typeface="微软雅黑"/>
              </a:defRPr>
            </a:pPr>
            <a:r>
              <a:t>【算法归纳】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48 ÷ 4 = 12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48 = 40 + 8    40 ÷ 4 = 10    8 ÷ 4 = 2    10 + 2 =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教学过程 - 巩固练习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4A90D9"/>
                </a:solidFill>
                <a:latin typeface="微软雅黑"/>
              </a:defRPr>
            </a:pPr>
            <a:r>
              <a:t>【基础练习】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64 ÷ 2 = ?      84 ÷ 4 = ?      96 ÷ 3 = ?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</a:p>
          <a:p>
            <a:pPr>
              <a:spcAft>
                <a:spcPts val="1200"/>
              </a:spcAft>
              <a:defRPr sz="2600" b="1">
                <a:solidFill>
                  <a:srgbClr val="4A90D9"/>
                </a:solidFill>
                <a:latin typeface="微软雅黑"/>
              </a:defRPr>
            </a:pPr>
            <a:r>
              <a:t>【变式练习】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判断对错：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55 ÷ 5 = 11 （  ）    72 ÷ 6 = 12 （  ）    96 ÷ 3 = 32 （  ）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</a:p>
          <a:p>
            <a:pPr>
              <a:spcAft>
                <a:spcPts val="1200"/>
              </a:spcAft>
              <a:defRPr sz="2600" b="1">
                <a:solidFill>
                  <a:srgbClr val="4A90D9"/>
                </a:solidFill>
                <a:latin typeface="微软雅黑"/>
              </a:defRPr>
            </a:pPr>
            <a:r>
              <a:t>【综合应用】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三年级有69人参加植树活动，每组3人，可以分成几组？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教学过程 - 课堂总结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4A90D9"/>
                </a:solidFill>
                <a:latin typeface="微软雅黑"/>
              </a:defRPr>
            </a:pPr>
            <a:r>
              <a:t>【知识回顾】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一位数除两位数，先把被除数分成整十数和一位数，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分别除以除数，再把商加起来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</a:p>
          <a:p>
            <a:pPr>
              <a:spcAft>
                <a:spcPts val="1200"/>
              </a:spcAft>
              <a:defRPr sz="2600" b="1">
                <a:solidFill>
                  <a:srgbClr val="4A90D9"/>
                </a:solidFill>
                <a:latin typeface="微软雅黑"/>
              </a:defRPr>
            </a:pPr>
            <a:r>
              <a:t>【口算方法】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先分十位，再分个位，最后合起来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</a:p>
          <a:p>
            <a:pPr>
              <a:spcAft>
                <a:spcPts val="1200"/>
              </a:spcAft>
              <a:defRPr sz="2600" b="1">
                <a:solidFill>
                  <a:srgbClr val="4A90D9"/>
                </a:solidFill>
                <a:latin typeface="微软雅黑"/>
              </a:defRPr>
            </a:pPr>
            <a:r>
              <a:t>【温馨提示】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认真计算，仔细检查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5DC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课堂练习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>
                <a:latin typeface="微软雅黑"/>
              </a:defRPr>
            </a:pPr>
            <a:r>
              <a:t>1. 口算：42 ÷ 2 = （     ）</a:t>
            </a:r>
          </a:p>
          <a:p>
            <a:pPr>
              <a:spcAft>
                <a:spcPts val="1400"/>
              </a:spcAft>
              <a:defRPr sz="2600">
                <a:latin typeface="微软雅黑"/>
              </a:defRPr>
            </a:pPr>
            <a:r>
              <a:t>2. 口算：63 ÷ 3 = （     ）</a:t>
            </a:r>
          </a:p>
          <a:p>
            <a:pPr>
              <a:spcAft>
                <a:spcPts val="1400"/>
              </a:spcAft>
              <a:defRPr sz="2600">
                <a:latin typeface="微软雅黑"/>
              </a:defRPr>
            </a:pPr>
            <a:r>
              <a:t>3. 口算：88 ÷ 4 = （     ）</a:t>
            </a:r>
          </a:p>
          <a:p>
            <a:pPr>
              <a:spcAft>
                <a:spcPts val="1400"/>
              </a:spcAft>
              <a:defRPr sz="2600">
                <a:latin typeface="微软雅黑"/>
              </a:defRPr>
            </a:pPr>
            <a:r>
              <a:t>4. 填空：84 ÷ （     ）= 21</a:t>
            </a:r>
          </a:p>
          <a:p>
            <a:pPr>
              <a:spcAft>
                <a:spcPts val="1400"/>
              </a:spcAft>
              <a:defRPr sz="2600">
                <a:latin typeface="微软雅黑"/>
              </a:defRPr>
            </a:pPr>
            <a:r>
              <a:t>5. 学校买来96本故事书，平均分给3个班，每班分得多少本？</a:t>
            </a:r>
          </a:p>
          <a:p>
            <a:pPr>
              <a:spcAft>
                <a:spcPts val="1400"/>
              </a:spcAft>
              <a:defRPr sz="2600">
                <a:latin typeface="微软雅黑"/>
              </a:defRPr>
            </a:pPr>
            <a:r>
              <a:t>6. 思考：□4 ÷ 2，要使商是两位数，□里可以填几？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作业布置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1">
                <a:solidFill>
                  <a:srgbClr val="4A90D9"/>
                </a:solidFill>
                <a:latin typeface="微软雅黑"/>
              </a:defRPr>
            </a:pPr>
            <a:r>
              <a:t>【必做题】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1. 完成课本第11页"做一做"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2. 熟记今天学的口算方法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</a:p>
          <a:p>
            <a:pPr>
              <a:spcAft>
                <a:spcPts val="1200"/>
              </a:spcAft>
              <a:defRPr sz="2600" b="1">
                <a:solidFill>
                  <a:srgbClr val="4A90D9"/>
                </a:solidFill>
                <a:latin typeface="微软雅黑"/>
              </a:defRPr>
            </a:pPr>
            <a:r>
              <a:t>【选做题】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1. 给爸爸妈妈出一道一位数除两位数的题目，并教会他们怎么算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2. 找一找生活中还有哪些问题可以用除法来解决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</a:p>
          <a:p>
            <a:pPr>
              <a:spcAft>
                <a:spcPts val="1200"/>
              </a:spcAft>
              <a:defRPr sz="2600" b="1">
                <a:solidFill>
                  <a:srgbClr val="4A90D9"/>
                </a:solidFill>
                <a:latin typeface="微软雅黑"/>
              </a:defRPr>
            </a:pPr>
            <a:r>
              <a:t>【实践作业】</a:t>
            </a:r>
          </a:p>
          <a:p>
            <a:pPr>
              <a:spcAft>
                <a:spcPts val="1200"/>
              </a:spcAft>
              <a:defRPr sz="2600">
                <a:latin typeface="微软雅黑"/>
              </a:defRPr>
            </a:pPr>
            <a:r>
              <a:t>回家后，观察家里物品的平均分问题，列出一道除法算式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91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333333"/>
                </a:solidFill>
                <a:latin typeface="微软雅黑"/>
              </a:defRPr>
            </a:pPr>
            <a: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