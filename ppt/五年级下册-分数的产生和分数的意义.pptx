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C3AED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457200"/>
            <a:ext cx="2286000" cy="22860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1463040" cy="347472"/>
          </a:xfrm>
          <a:prstGeom prst="rect">
            <a:avLst>
              <a:gd name="adj" fmla="val 26316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五年级数学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1463040" cy="347472"/>
          </a:xfrm>
          <a:prstGeom prst="rect">
            <a:avLst>
              <a:gd name="adj" fmla="val 26316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457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人教版下册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分数的产生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和分数的意义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第四单元  ·  分数的意义和性质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0" y="4069080"/>
            <a:ext cx="5120640" cy="594360"/>
          </a:xfrm>
          <a:prstGeom prst="rect">
            <a:avLst>
              <a:gd name="adj" fmla="val 1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40690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备课教师：</a:t>
            </a:r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高铭泽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|    </a:t>
            </a:r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2026年4月20日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知识、技能、方法与情感 — 三维目标同步推进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743200" cy="3474720"/>
          </a:xfrm>
          <a:prstGeom prst="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43000"/>
            <a:ext cx="27432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344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知识与技能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了解分数的产生历史，知道分数是在测量、平均分等实际需要中产生的</a:t>
            </a:r>
            <a:endParaRPr lang="en-US" sz="1050" dirty="0"/>
          </a:p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理解分数的意义，明确单位「1」的含义</a:t>
            </a:r>
            <a:endParaRPr lang="en-US" sz="1050" dirty="0"/>
          </a:p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理解分数单位的概念，能说出分数含有几个分数单位</a:t>
            </a:r>
            <a:endParaRPr lang="en-US" sz="1050" dirty="0"/>
          </a:p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能用分数表示一个整体被平均分后的一份或几份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3474720"/>
          </a:xfrm>
          <a:prstGeom prst="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143000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1344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过程与方法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180136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经历「一个物体 → 一个图形 → 一组物体」的感知过程，逐步抽象出单位「1」</a:t>
            </a:r>
            <a:endParaRPr lang="en-US" sz="1050" dirty="0"/>
          </a:p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通过动手折纸、画图、摆学具等操作活动，建立分数的直观模型</a:t>
            </a:r>
            <a:endParaRPr lang="en-US" sz="1050" dirty="0"/>
          </a:p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通过举例、对比、辨析，深化对分数意义的理解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743200" cy="3474720"/>
          </a:xfrm>
          <a:prstGeom prst="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114300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1344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情感态度与价值观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感受数学知识来源于生产生活实践，体验数学的实用价值</a:t>
            </a:r>
            <a:endParaRPr lang="en-US" sz="1050" dirty="0"/>
          </a:p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感受数系的不断完善是人类解决问题的智慧结晶</a:t>
            </a:r>
            <a:endParaRPr lang="en-US" sz="1050" dirty="0"/>
          </a:p>
          <a:p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培养数感和数学文化素养，激发学习兴趣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抓住核心，突破关键理解障碍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77640" cy="3611880"/>
          </a:xfrm>
          <a:prstGeom prst="rect">
            <a:avLst>
              <a:gd name="adj" fmla="val 3544"/>
            </a:avLst>
          </a:prstGeom>
          <a:solidFill>
            <a:srgbClr val="EFF6F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97280"/>
            <a:ext cx="3977640" cy="475488"/>
          </a:xfrm>
          <a:prstGeom prst="rect">
            <a:avLst>
              <a:gd name="adj" fmla="val 26923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389888"/>
            <a:ext cx="397764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教学重点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76479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理解分数的意义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039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把单位「1」平均分成若干份，表示这样的一份或几份的数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3347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587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理解单位「1」的含义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907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不仅是一个物体，也可以是一个图形、一组物体等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0215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456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能用分数表示整体的一部分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3776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明确整体是什么，平均分成几份，取几份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3977640" cy="3611880"/>
          </a:xfrm>
          <a:prstGeom prst="rect">
            <a:avLst>
              <a:gd name="adj" fmla="val 3544"/>
            </a:avLst>
          </a:prstGeom>
          <a:solidFill>
            <a:srgbClr val="F5F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097280"/>
            <a:ext cx="3977640" cy="475488"/>
          </a:xfrm>
          <a:prstGeom prst="rect">
            <a:avLst>
              <a:gd name="adj" fmla="val 26923"/>
            </a:avLst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389888"/>
            <a:ext cx="39776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097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教学难点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92040" y="176479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单位「1」的多样化理解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76088" y="2039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尤其是「一组物体」也能作为单位「1」的认识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63347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76088" y="2587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从整体到抽象的概括过程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76088" y="2907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从具体操作逐步抽象出分数的数学概念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50215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76088" y="3456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分数单位的正确理解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76088" y="3776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3/5 的分数单位是 1/5，而不是 3/5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教学准备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工欲善其事，必先利其器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77640" cy="3474720"/>
          </a:xfrm>
          <a:prstGeom prst="rect">
            <a:avLst>
              <a:gd name="adj" fmla="val 368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3977640" cy="457200"/>
          </a:xfrm>
          <a:prstGeom prst="rect">
            <a:avLst>
              <a:gd name="adj" fmla="val 28000"/>
            </a:avLst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371600"/>
            <a:ext cx="397764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 教师准备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PPT课件（自制）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A4纸若干张（折纸演示用）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圆形纸片、正方形纸片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实物投影仪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彩色粉笔（红/蓝）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77640" cy="3474720"/>
          </a:xfrm>
          <a:prstGeom prst="rect">
            <a:avLst>
              <a:gd name="adj" fmla="val 368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77640" cy="457200"/>
          </a:xfrm>
          <a:prstGeom prst="rect">
            <a:avLst>
              <a:gd name="adj" fmla="val 28000"/>
            </a:avLst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371600"/>
            <a:ext cx="397764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🎒  学生准备（学具袋）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圆形纸1张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正方形纸1张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彩色笔1支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小棒6根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预习三年级分数初步认识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617720"/>
            <a:ext cx="8321040" cy="347472"/>
          </a:xfrm>
          <a:prstGeom prst="rect">
            <a:avLst>
              <a:gd name="adj" fmla="val 21053"/>
            </a:avLst>
          </a:prstGeom>
          <a:solidFill>
            <a:srgbClr val="FEF9C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 预习提示：请同学们课前回顾三年级学过的分数初步认识，完成预习任务单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环节一：情境导入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分数是怎么来的？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77640" cy="1828800"/>
          </a:xfrm>
          <a:prstGeom prst="rect">
            <a:avLst>
              <a:gd name="adj" fmla="val 7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📜  古人的困惑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用绳子量布，量了3段还多出一截，多的那一截该怎么记录？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——整数不够用了！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77640" cy="1828800"/>
          </a:xfrm>
          <a:prstGeom prst="rect">
            <a:avLst>
              <a:gd name="adj" fmla="val 70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📖  分数的历史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中国古代《九章算术》中已有分数的记载；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西方数学中，分数（fraction）源于拉丁语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fractus，意为「打破」「分割」。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</a:rPr>
              <a:t>↓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3383280"/>
            <a:ext cx="8321040" cy="1600200"/>
          </a:xfrm>
          <a:prstGeom prst="rect">
            <a:avLst>
              <a:gd name="adj" fmla="val 8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4930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🌏  生活中，你见过哪些分数？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生日蛋糕平均分（每人吃 1/4 块）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牛奶剩半升（1/2 升）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跑道跑了 3/4 圈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数学考试得 95 分（满分100，得分率 95/100）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环节二：动手操作  探究分数的意义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从「一个物体」开始——圆形纸折纸活动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438912"/>
          </a:xfrm>
          <a:prstGeom prst="rect">
            <a:avLst>
              <a:gd name="adj" fmla="val 20833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 活动要求：拿出圆形纸，动手折一折、涂一涂，想一想该怎么用分数表示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606040" cy="3291840"/>
          </a:xfrm>
          <a:prstGeom prst="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00200"/>
            <a:ext cx="2606040" cy="365760"/>
          </a:xfrm>
          <a:prstGeom prst="rect">
            <a:avLst>
              <a:gd name="adj" fmla="val 30000"/>
            </a:avLst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783080"/>
            <a:ext cx="260604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057400"/>
            <a:ext cx="224028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57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（图示区）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单位「1」= 1 张圆形纸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2606040" cy="3291840"/>
          </a:xfrm>
          <a:prstGeom prst="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600200"/>
            <a:ext cx="2606040" cy="365760"/>
          </a:xfrm>
          <a:prstGeom prst="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783080"/>
            <a:ext cx="26060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2057400"/>
            <a:ext cx="224028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057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（图示区）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3756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取了 3 份，所以分子是 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1600200"/>
            <a:ext cx="2606040" cy="3291840"/>
          </a:xfrm>
          <a:prstGeom prst="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600200"/>
            <a:ext cx="2606040" cy="365760"/>
          </a:xfrm>
          <a:prstGeom prst="rect">
            <a:avLst>
              <a:gd name="adj" fmla="val 30000"/>
            </a:avLst>
          </a:prstGeom>
          <a:solidFill>
            <a:srgbClr val="16A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1783080"/>
            <a:ext cx="260604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2057400"/>
            <a:ext cx="224028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057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（图示区）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3383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5/6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17220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单位「1」= 1 张正方形纸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681728"/>
            <a:ext cx="8321040" cy="347472"/>
          </a:xfrm>
          <a:prstGeom prst="rect">
            <a:avLst>
              <a:gd name="adj" fmla="val 21053"/>
            </a:avLst>
          </a:prstGeom>
          <a:solidFill>
            <a:srgbClr val="FEF9C3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💬  追问：这三道题的单位「1」分别是什么？（都是「1个物体」）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环节二：深化理解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打破边界——「一组物体」也可以是单位「1」！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>
              <a:gd name="adj" fmla="val 1538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7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 重要发现：单位「1」可以是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一个物体（如1张圆形纸）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一个图形（如1个正方形）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一个计量单位（如1米、1升）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一组物体（如6根小棒）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8321040" cy="2834640"/>
          </a:xfrm>
          <a:prstGeom prst="rect">
            <a:avLst>
              <a:gd name="adj" fmla="val 451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019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 活动：6根小棒的分组游戏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32004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0428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（6根小棒图示）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304288"/>
            <a:ext cx="4663440" cy="914400"/>
          </a:xfrm>
          <a:prstGeom prst="rect">
            <a:avLst>
              <a:gd name="adj" fmla="val 8000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331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把这 6 根小棒看作一个整体（单位「1」），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平均分成 3 份，每份是整体的几分之几？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2377440" cy="1143000"/>
          </a:xfrm>
          <a:prstGeom prst="rect">
            <a:avLst>
              <a:gd name="adj" fmla="val 8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063240" y="3337560"/>
            <a:ext cx="2377440" cy="1143000"/>
          </a:xfrm>
          <a:prstGeom prst="rect">
            <a:avLst>
              <a:gd name="adj" fmla="val 8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6324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每份几根？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3611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2根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577840" y="3337560"/>
            <a:ext cx="3017520" cy="1143000"/>
          </a:xfrm>
          <a:prstGeom prst="rect">
            <a:avLst>
              <a:gd name="adj" fmla="val 8000"/>
            </a:avLst>
          </a:prstGeom>
          <a:solidFill>
            <a:srgbClr val="FEF9C3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 关键发现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这里的单位「1」不是1根小棒，而是6根小棒组成的整体！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645152"/>
            <a:ext cx="8321040" cy="365760"/>
          </a:xfrm>
          <a:prstGeom prst="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6451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 结论：只要把若干个物体看作一个整体，就可以把这个整体看作单位「1」！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核心概念：分数的意义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最最重要的结论，请同学们记下来！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155448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7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188720"/>
            <a:ext cx="164592" cy="1554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887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把单位「1」平均分成若干份，表示这样的一份或几份的数，叫做分数。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2651760" cy="1965960"/>
          </a:xfrm>
          <a:prstGeom prst="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80360"/>
            <a:ext cx="2651760" cy="457200"/>
          </a:xfrm>
          <a:prstGeom prst="rect">
            <a:avLst>
              <a:gd name="adj" fmla="val 24000"/>
            </a:avLst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54680"/>
            <a:ext cx="265176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🔢  单位「1」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338328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被平均分的整体，可以是1个物体、一组物体、一个计量单位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2880360"/>
            <a:ext cx="2651760" cy="1965960"/>
          </a:xfrm>
          <a:prstGeom prst="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2880360"/>
            <a:ext cx="2651760" cy="457200"/>
          </a:xfrm>
          <a:prstGeom prst="rect">
            <a:avLst>
              <a:gd name="adj" fmla="val 24000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3154680"/>
            <a:ext cx="265176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⚡  平均分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75888" y="338328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必须「平均分」——每一份的大小必须相等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880360"/>
            <a:ext cx="2651760" cy="1965960"/>
          </a:xfrm>
          <a:prstGeom prst="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880360"/>
            <a:ext cx="2651760" cy="457200"/>
          </a:xfrm>
          <a:prstGeom prst="rect">
            <a:avLst>
              <a:gd name="adj" fmla="val 24000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3154680"/>
            <a:ext cx="265176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📐  分数各部分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0528" y="338328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分数线（÷的意思）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分母（平均分的份数）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分子（取的份数）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环节三：认识分数单位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分数是由若干个「分数单位」累加组成的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658368"/>
          </a:xfrm>
          <a:prstGeom prst="rect">
            <a:avLst>
              <a:gd name="adj" fmla="val 13889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7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13716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078992"/>
            <a:ext cx="7982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分数单位：把单位「1」平均分成若干份，其中的一份所对应的分数，叫做这个分数的分数单位。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8321040" cy="1325880"/>
          </a:xfrm>
          <a:prstGeom prst="rect">
            <a:avLst>
              <a:gd name="adj" fmla="val 9655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38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 分数可以拆解为分数单位的累加：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  =  1/5  +  1/5  +  1/5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  3/5 含有 3 个分数单位，每个分数单位是 1/5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337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课堂练习：说出下列分数的分数单位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03320"/>
          <a:ext cx="8321040" cy="132588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分数单位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含有几个分数单位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2/7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17920" y="1078992"/>
            <a:ext cx="2423160" cy="658368"/>
          </a:xfrm>
          <a:prstGeom prst="rect">
            <a:avLst>
              <a:gd name="adj" fmla="val 13889"/>
            </a:avLst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10789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  注意：3/5 的分数单位是 1/5，而不是 3/5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环节四：巩固练习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学以致用，来挑战一下！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14800" cy="1783080"/>
          </a:xfrm>
          <a:prstGeom prst="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731520" cy="329184"/>
          </a:xfrm>
          <a:prstGeom prst="rect">
            <a:avLst>
              <a:gd name="adj" fmla="val 22222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1097280"/>
            <a:ext cx="822960" cy="329184"/>
          </a:xfrm>
          <a:prstGeom prst="rect">
            <a:avLst>
              <a:gd name="adj" fmla="val 22222"/>
            </a:avLst>
          </a:prstGeom>
          <a:solidFill>
            <a:srgbClr val="FEF9C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0972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把1米平均分成10段，每段是（    ）米，3段是（    ）米。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3840480" cy="384048"/>
          </a:xfrm>
          <a:prstGeom prst="rect">
            <a:avLst>
              <a:gd name="adj" fmla="val 14286"/>
            </a:avLst>
          </a:prstGeom>
          <a:solidFill>
            <a:srgbClr val="16A34A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39572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答案：1/10米；3/10米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1783080"/>
          </a:xfrm>
          <a:prstGeom prst="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731520" cy="329184"/>
          </a:xfrm>
          <a:prstGeom prst="rect">
            <a:avLst>
              <a:gd name="adj" fmla="val 22222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972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097280"/>
            <a:ext cx="822960" cy="329184"/>
          </a:xfrm>
          <a:prstGeom prst="rect">
            <a:avLst>
              <a:gd name="adj" fmla="val 22222"/>
            </a:avLst>
          </a:prstGeom>
          <a:solidFill>
            <a:srgbClr val="FEF9C3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0972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4813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9/11 里有（    ）个（    ）/（    ）。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2395728"/>
            <a:ext cx="3840480" cy="384048"/>
          </a:xfrm>
          <a:prstGeom prst="rect">
            <a:avLst>
              <a:gd name="adj" fmla="val 14286"/>
            </a:avLst>
          </a:prstGeom>
          <a:solidFill>
            <a:srgbClr val="16A34A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39572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答案：9个，1/11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4114800" cy="1783080"/>
          </a:xfrm>
          <a:prstGeom prst="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063240"/>
            <a:ext cx="731520" cy="329184"/>
          </a:xfrm>
          <a:prstGeom prst="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063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34440" y="3063240"/>
            <a:ext cx="822960" cy="329184"/>
          </a:xfrm>
          <a:prstGeom prst="rect">
            <a:avLst>
              <a:gd name="adj" fmla="val 22222"/>
            </a:avLst>
          </a:prstGeom>
          <a:solidFill>
            <a:srgbClr val="FEF9C3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3063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4472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一盒彩笔共12支，红色笔4支，红色笔占这盒彩笔的几分之几？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（提示：把一盒彩笔看作单位「1」）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61688"/>
            <a:ext cx="3840480" cy="384048"/>
          </a:xfrm>
          <a:prstGeom prst="rect">
            <a:avLst>
              <a:gd name="adj" fmla="val 14286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436168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答案：4/12 = 1/3（化简后）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4114800" cy="1783080"/>
          </a:xfrm>
          <a:prstGeom prst="rect">
            <a:avLst>
              <a:gd name="adj" fmla="val 615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38100" dir="7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63240"/>
            <a:ext cx="731520" cy="329184"/>
          </a:xfrm>
          <a:prstGeom prst="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063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3063240"/>
            <a:ext cx="822960" cy="329184"/>
          </a:xfrm>
          <a:prstGeom prst="rect">
            <a:avLst>
              <a:gd name="adj" fmla="val 22222"/>
            </a:avLst>
          </a:prstGeom>
          <a:solidFill>
            <a:srgbClr val="FEF9C3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3063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4472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把4个苹果看做单位「1」，每个苹果是单位「1」的几分之几？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4361688"/>
            <a:ext cx="3840480" cy="384048"/>
          </a:xfrm>
          <a:prstGeom prst="rect">
            <a:avLst>
              <a:gd name="adj" fmla="val 14286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436168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答案：1/4（把4个苹果平均分成4份，每份1个，是整体的1/4）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环节五：课堂总结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今天我们学到了什么？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713232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7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152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分数为什么产生？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整数不够用了！在测量、平均分的实际需要中，分数诞生了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8321040" cy="713232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7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39112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956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分数的意义是什么？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267712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把单位「1」平均分成若干份，表示这样的一份或几份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06624"/>
            <a:ext cx="8321040" cy="713232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7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43784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单位「1」可以是什么？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072384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一个物体、一个图形、一组物体、一个计量单位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511296"/>
            <a:ext cx="8321040" cy="713232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7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48456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什么是分数单位？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877056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平均分后「其中一份」所对应的分数，如 3/5 含有3个 1/5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315968"/>
            <a:ext cx="8321040" cy="713232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7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45312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3/5 和 3/7，哪个分数单位更大？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681728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1/5 &gt; 1/7（为下一课「分数大小比较」埋伏笔！）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4617720"/>
            <a:ext cx="2788920" cy="384048"/>
          </a:xfrm>
          <a:prstGeom prst="rect">
            <a:avLst>
              <a:gd name="adj" fmla="val 19048"/>
            </a:avLst>
          </a:prstGeom>
          <a:solidFill>
            <a:srgbClr val="FEF9C3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46177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📌 下节预告：分数的大小比较 → 1/5 和 1/7 谁更大？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检测一下，今天的知识掌握了吗？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896112"/>
          </a:xfrm>
          <a:prstGeom prst="rect">
            <a:avLst>
              <a:gd name="adj" fmla="val 10204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33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把3米平均分成4段，每段是3米的（    ），是（    ）米。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答案：1/4；3/4米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8321040" cy="896112"/>
          </a:xfrm>
          <a:prstGeom prst="rect">
            <a:avLst>
              <a:gd name="adj" fmla="val 10204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396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说出 5/6 的分数单位，以及它含有几个这样的分数单位。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答案：1/6，含有5个1/6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90672"/>
            <a:ext cx="8321040" cy="896112"/>
          </a:xfrm>
          <a:prstGeom prst="rect">
            <a:avLst>
              <a:gd name="adj" fmla="val 10204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4553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判断：把4个苹果看做单位「1」，每个苹果是单位「1」的 1/4。（    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6210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答案：正确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96512"/>
            <a:ext cx="8321040" cy="896112"/>
          </a:xfrm>
          <a:prstGeom prst="rect">
            <a:avLst>
              <a:gd name="adj" fmla="val 10204"/>
            </a:avLst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5137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一班有40人，其中女生24人，女生占全班的（    ）。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62686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答案：24/40 = 3/5（化简后）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645152"/>
            <a:ext cx="8321040" cy="347472"/>
          </a:xfrm>
          <a:prstGeom prst="rect">
            <a:avLst>
              <a:gd name="adj" fmla="val 21053"/>
            </a:avLst>
          </a:prstGeom>
          <a:solidFill>
            <a:srgbClr val="FEF9C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6451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⏱  独立完成，时间：5分钟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分层作业，因材施教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77640" cy="3474720"/>
          </a:xfrm>
          <a:prstGeom prst="rect">
            <a:avLst>
              <a:gd name="adj" fmla="val 368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3977640" cy="457200"/>
          </a:xfrm>
          <a:prstGeom prst="rect">
            <a:avLst>
              <a:gd name="adj" fmla="val 28000"/>
            </a:avLst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371600"/>
            <a:ext cx="397764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 基础作业（全员必做）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完成教科书第45页练习一第1、2题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完成配套练习册本课时练习</a:t>
            </a:r>
            <a:endParaRPr lang="en-US" sz="1300" dirty="0"/>
          </a:p>
          <a:p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用分数表示下图中涂色部分（3道图形题）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77640" cy="3474720"/>
          </a:xfrm>
          <a:prstGeom prst="rect">
            <a:avLst>
              <a:gd name="adj" fmla="val 368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7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77640" cy="457200"/>
          </a:xfrm>
          <a:prstGeom prst="rect">
            <a:avLst>
              <a:gd name="adj" fmla="val 28000"/>
            </a:avLst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371600"/>
            <a:ext cx="397764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⭐  拓展作业（选做）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用图形画出 3/8，并说明单位「1」是什么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举出3个生活中用到分数的例子，说明每个例子的单位「1」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思考题：把6个苹果平均分给5个小朋友，每人得到多少？（想一想单位「1」是什么）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8321040" cy="347472"/>
          </a:xfrm>
          <a:prstGeom prst="rect">
            <a:avLst>
              <a:gd name="adj" fmla="val 21053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6451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🌟 温馨提示：认真审题，分数答案注意约分哦！下节课我们来研究分数的大小比较~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914400"/>
            <a:ext cx="2743200" cy="274320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五年级数学下册 · 分数的产生和分数的意义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第四单元  ·  备课教师：高铭泽  ·  2026年4月20日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931920"/>
            <a:ext cx="4572000" cy="640080"/>
          </a:xfrm>
          <a:prstGeom prst="rect">
            <a:avLst>
              <a:gd name="adj" fmla="val 1714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学而时习之，不亦说乎？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分数的产生和分数的意义</dc:title>
  <dc:subject>PptxGenJS Presentation</dc:subject>
  <dc:creator>小学数学备课</dc:creator>
  <cp:lastModifiedBy>小学数学备课</cp:lastModifiedBy>
  <cp:revision>1</cp:revision>
  <dcterms:created xsi:type="dcterms:W3CDTF">2026-04-20T01:33:49Z</dcterms:created>
  <dcterms:modified xsi:type="dcterms:W3CDTF">2026-04-20T01:33:49Z</dcterms:modified>
</cp:coreProperties>
</file>